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86f9b7ed734bd6" /><Relationship Type="http://schemas.openxmlformats.org/officeDocument/2006/relationships/extended-properties" Target="/docProps/app.xml" Id="R1c3939a52f5c4758" /><Relationship Type="http://schemas.openxmlformats.org/officeDocument/2006/relationships/officeDocument" Target="/ppt/presentation.xml" Id="R691ddedcbc7543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2e096906d04c08"/>
  </p:sldMasterIdLst>
  <p:notesMasterIdLst>
    <p:notesMasterId xmlns:r="http://schemas.openxmlformats.org/officeDocument/2006/relationships" r:id="Rb85c04a895a84906"/>
  </p:notesMasterIdLst>
  <p:sldIdLst>
    <p:sldId xmlns:r="http://schemas.openxmlformats.org/officeDocument/2006/relationships" id="256" r:id="Rb5301d24f07e4cdd"/>
    <p:sldId xmlns:r="http://schemas.openxmlformats.org/officeDocument/2006/relationships" id="257" r:id="R43bcff1db55b41f3"/>
    <p:sldId xmlns:r="http://schemas.openxmlformats.org/officeDocument/2006/relationships" id="258" r:id="Rc9363073776045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e096906d04c08" /><Relationship Type="http://schemas.openxmlformats.org/officeDocument/2006/relationships/theme" Target="/ppt/theme/theme1.xml" Id="R7a54f9a0981d4c64" /><Relationship Type="http://schemas.openxmlformats.org/officeDocument/2006/relationships/notesMaster" Target="/ppt/notesMasters/notesMaster1.xml" Id="Rb85c04a895a84906" /><Relationship Type="http://schemas.openxmlformats.org/officeDocument/2006/relationships/presProps" Target="/ppt/presProps.xml" Id="R9ae3a655591a4d60" /><Relationship Type="http://schemas.openxmlformats.org/officeDocument/2006/relationships/viewProps" Target="/ppt/viewProps.xml" Id="Rb5dece06d63a46c7" /><Relationship Type="http://schemas.openxmlformats.org/officeDocument/2006/relationships/tableStyles" Target="/ppt/tableStyles.xml" Id="R581af03810394073" /><Relationship Type="http://schemas.openxmlformats.org/officeDocument/2006/relationships/slide" Target="/ppt/slides/slide1.xml" Id="Rb5301d24f07e4cdd" /><Relationship Type="http://schemas.openxmlformats.org/officeDocument/2006/relationships/slide" Target="/ppt/slides/slide2.xml" Id="R43bcff1db55b41f3" /><Relationship Type="http://schemas.openxmlformats.org/officeDocument/2006/relationships/slide" Target="/ppt/slides/slide3.xml" Id="Rc9363073776045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3cb83746c784a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LVMH UIUC">
  <a:themeElements>
    <a:clrScheme name="LVMH UIUC">
      <a:accent1>
        <a:srgbClr val="142E57"/>
      </a:accent1>
      <a:accent2>
        <a:srgbClr val="FF5F05"/>
      </a:accent2>
      <a:accent3>
        <a:srgbClr val="16858F"/>
      </a:accent3>
      <a:accent4>
        <a:srgbClr val="5F3F96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VMH UIUC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5425702fe94bb7" /><Relationship Type="http://schemas.openxmlformats.org/officeDocument/2006/relationships/notesMaster" Target="/ppt/notesMasters/notesMaster1.xml" Id="R480c7be4566a40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739e53dbb94a2c" /><Relationship Type="http://schemas.openxmlformats.org/officeDocument/2006/relationships/notesMaster" Target="/ppt/notesMasters/notesMaster1.xml" Id="Rcd17fd4e67a040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cf676a879d4979" /><Relationship Type="http://schemas.openxmlformats.org/officeDocument/2006/relationships/notesMaster" Target="/ppt/notesMasters/notesMaster1.xml" Id="R3018dca8617d49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29c8bbbdfb487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3b81762f9c94ff9" /><Relationship Type="http://schemas.openxmlformats.org/officeDocument/2006/relationships/slideLayout" Target="/ppt/slideLayouts/slideLayout2.xml" Id="R53c6a57de1f144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c6a57de1f144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9e92a269204721" /><Relationship Type="http://schemas.openxmlformats.org/officeDocument/2006/relationships/image" Target="/ppt/media/image.png" Id="Rd9b216a240e04563" /><Relationship Type="http://schemas.openxmlformats.org/officeDocument/2006/relationships/image" Target="/ppt/media/image2.png" Id="R12ad1c27e46f4203" /><Relationship Type="http://schemas.openxmlformats.org/officeDocument/2006/relationships/notesSlide" Target="/ppt/notesSlides/notesSlide1.xml" Id="R6131ce46147241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8ac58cf8354732" /><Relationship Type="http://schemas.openxmlformats.org/officeDocument/2006/relationships/image" Target="/ppt/media/image3.png" Id="Rfc0ee5f38fec4496" /><Relationship Type="http://schemas.openxmlformats.org/officeDocument/2006/relationships/image" Target="/ppt/media/image4.png" Id="Rb7d0b20672b64e15" /><Relationship Type="http://schemas.openxmlformats.org/officeDocument/2006/relationships/notesSlide" Target="/ppt/notesSlides/notesSlide2.xml" Id="R41ae6349b3d64b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78c3a44dbf44fd" /><Relationship Type="http://schemas.openxmlformats.org/officeDocument/2006/relationships/image" Target="/ppt/media/image5.png" Id="Rf2433c3e86bb461f" /><Relationship Type="http://schemas.openxmlformats.org/officeDocument/2006/relationships/image" Target="/ppt/media/image6.png" Id="R89a1bab8a10a461a" /><Relationship Type="http://schemas.openxmlformats.org/officeDocument/2006/relationships/notesSlide" Target="/ppt/notesSlides/notesSlide3.xml" Id="R603f43979a7743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6115A-0D83-4628-999F-687D8DE9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F1F3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F1F3F"/>
                </a:solidFill>
                <a:latin typeface="Aptos Display"/>
                <a:ea typeface="Aptos Display"/>
                <a:cs typeface="Aptos Display"/>
              </a:rPr>
              <a:t>Prototype Demo: Diversion Intelligence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E2185-09E9-4655-905E-99BED29B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7429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6566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46566F"/>
                </a:solidFill>
                <a:latin typeface="Aptos"/>
                <a:ea typeface="Aptos"/>
                <a:cs typeface="Aptos"/>
              </a:rPr>
              <a:t>Live scan view with executive KPIs, distributor deltas, and ML listing escalations.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5A32B-F661-4C48-9290-26E5D1E5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57250"/>
            <a:ext cx="11315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05"/>
          </a:solidFill>
          <a:ln xmlns:a="http://schemas.openxmlformats.org/drawingml/2006/main" w="0">
            <a:solidFill>
              <a:srgbClr val="FF5F05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216a240e04563"/>
          <a:stretch xmlns:a="http://schemas.openxmlformats.org/drawingml/2006/main"/>
        </p:blipFill>
        <p:spPr>
          <a:xfrm xmlns:a="http://schemas.openxmlformats.org/drawingml/2006/main">
            <a:off x="9336741" y="57150"/>
            <a:ext cx="2605368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8C442-0832-452F-8377-FDE2CC39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19175"/>
            <a:ext cx="109347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4288">
            <a:solidFill>
              <a:srgbClr val="D6DE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50FE1-0142-454E-B63E-633FF372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19175"/>
            <a:ext cx="762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05"/>
          </a:solidFill>
          <a:ln xmlns:a="http://schemas.openxmlformats.org/drawingml/2006/main" w="0">
            <a:solidFill>
              <a:srgbClr val="FF5F05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d1c27e46f4203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095375"/>
            <a:ext cx="10706100" cy="6019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9C9D4-74B2-4C70-B3B0-2F10F51C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305550"/>
            <a:ext cx="11296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E57"/>
          </a:solidFill>
          <a:ln xmlns:a="http://schemas.openxmlformats.org/drawingml/2006/main" w="0">
            <a:solidFill>
              <a:srgbClr val="142E5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5F0A0-9C94-4FEA-B4B2-A8D5BEFA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108775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 i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dashboard turns the class recommendation into a visible operating cockpit for grey-market intervention.</a:t>
            </a:r>
          </a:p>
        </p:txBody>
      </p:sp>
    </p:spTree>
    <p:extLst>
      <p:ext uri="{BB962C8B-B14F-4D97-AF65-F5344CB8AC3E}">
        <p14:creationId xmlns:p14="http://schemas.microsoft.com/office/powerpoint/2010/main" val="230784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5E08C3-0CCA-4423-B566-5A46D5D9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F1F3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F1F3F"/>
                </a:solidFill>
                <a:latin typeface="Aptos Display"/>
                <a:ea typeface="Aptos Display"/>
                <a:cs typeface="Aptos Display"/>
              </a:rPr>
              <a:t>Prototype Demo: Marketplace 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F47F7-D052-4E5E-86AF-50CAE98E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7429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6566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46566F"/>
                </a:solidFill>
                <a:latin typeface="Aptos"/>
                <a:ea typeface="Aptos"/>
                <a:cs typeface="Aptos"/>
              </a:rPr>
              <a:t>Listing-level detection across platforms, sellers, regions, confidence, status, and risk tier.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7DCCE-2EE4-48CD-90AE-933EF9B4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57250"/>
            <a:ext cx="11315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05"/>
          </a:solidFill>
          <a:ln xmlns:a="http://schemas.openxmlformats.org/drawingml/2006/main" w="0">
            <a:solidFill>
              <a:srgbClr val="FF5F05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ee5f38fec4496"/>
          <a:stretch xmlns:a="http://schemas.openxmlformats.org/drawingml/2006/main"/>
        </p:blipFill>
        <p:spPr>
          <a:xfrm xmlns:a="http://schemas.openxmlformats.org/drawingml/2006/main">
            <a:off x="9336741" y="57150"/>
            <a:ext cx="2605368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097E7-27F3-4916-871A-75C79702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19175"/>
            <a:ext cx="109347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4288">
            <a:solidFill>
              <a:srgbClr val="D6DE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9CD20-C543-45D1-9516-7F2CE693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19175"/>
            <a:ext cx="762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8F"/>
          </a:solidFill>
          <a:ln xmlns:a="http://schemas.openxmlformats.org/drawingml/2006/main" w="0">
            <a:solidFill>
              <a:srgbClr val="16858F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0b20672b64e15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095375"/>
            <a:ext cx="10706100" cy="6019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89D57-ECBC-4EEB-9E40-758C05D8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305550"/>
            <a:ext cx="11296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E57"/>
          </a:solidFill>
          <a:ln xmlns:a="http://schemas.openxmlformats.org/drawingml/2006/main" w="0">
            <a:solidFill>
              <a:srgbClr val="142E5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5BBE4-2457-42E1-898A-34686E4F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108775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 i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Marketplace monitoring gives the team an analyst-ready queue instead of a static report.</a:t>
            </a:r>
          </a:p>
        </p:txBody>
      </p:sp>
    </p:spTree>
    <p:extLst>
      <p:ext uri="{BB962C8B-B14F-4D97-AF65-F5344CB8AC3E}">
        <p14:creationId xmlns:p14="http://schemas.microsoft.com/office/powerpoint/2010/main" val="15181443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BEA72F-2346-48B4-86D5-EC4EE496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F1F3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F1F3F"/>
                </a:solidFill>
                <a:latin typeface="Aptos Display"/>
                <a:ea typeface="Aptos Display"/>
                <a:cs typeface="Aptos Display"/>
              </a:rPr>
              <a:t>Prototype Demo: Distributor Risk Scoring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468B4-74B7-4E6F-8124-0D898683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7429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6566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46566F"/>
                </a:solidFill>
                <a:latin typeface="Aptos"/>
                <a:ea typeface="Aptos"/>
                <a:cs typeface="Aptos"/>
              </a:rPr>
              <a:t>Explainable diversion intelligence score with tier changes, score drivers, and recommended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7C515-46E5-4C92-9E91-8BAEBC08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57250"/>
            <a:ext cx="11315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05"/>
          </a:solidFill>
          <a:ln xmlns:a="http://schemas.openxmlformats.org/drawingml/2006/main" w="0">
            <a:solidFill>
              <a:srgbClr val="FF5F05"/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33c3e86bb461f"/>
          <a:stretch xmlns:a="http://schemas.openxmlformats.org/drawingml/2006/main"/>
        </p:blipFill>
        <p:spPr>
          <a:xfrm xmlns:a="http://schemas.openxmlformats.org/drawingml/2006/main">
            <a:off x="9336741" y="57150"/>
            <a:ext cx="2605368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76372-5133-4912-9759-88E5CA7D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19175"/>
            <a:ext cx="109347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4288">
            <a:solidFill>
              <a:srgbClr val="D6DE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88386-9699-4EAC-89E6-9EC55CAA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19175"/>
            <a:ext cx="762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F96"/>
          </a:solidFill>
          <a:ln xmlns:a="http://schemas.openxmlformats.org/drawingml/2006/main" w="0">
            <a:solidFill>
              <a:srgbClr val="5F3F96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1bab8a10a461a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095375"/>
            <a:ext cx="10706100" cy="6019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51A05-527E-4723-9AEE-CD4DA8B4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305550"/>
            <a:ext cx="11296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E57"/>
          </a:solidFill>
          <a:ln xmlns:a="http://schemas.openxmlformats.org/drawingml/2006/main" w="0">
            <a:solidFill>
              <a:srgbClr val="142E5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A942E-3422-43D6-B9BA-E6BD4B28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108775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 i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Distributor scoring connects marketplace signals back to channel governance decisions.</a:t>
            </a:r>
          </a:p>
        </p:txBody>
      </p:sp>
    </p:spTree>
    <p:extLst>
      <p:ext uri="{BB962C8B-B14F-4D97-AF65-F5344CB8AC3E}">
        <p14:creationId xmlns:p14="http://schemas.microsoft.com/office/powerpoint/2010/main" val="1649429611"/>
      </p:ext>
    </p:extLst>
  </p:cSld>
</p:sld>
</file>

<file path=ppt/theme/theme1.xml><?xml version="1.0" encoding="utf-8"?>
<a:theme xmlns:a="http://schemas.openxmlformats.org/drawingml/2006/main" name="LVMH UIUC">
  <a:themeElements>
    <a:clrScheme name="LVMH UIUC">
      <a:accent1>
        <a:srgbClr val="142E57"/>
      </a:accent1>
      <a:accent2>
        <a:srgbClr val="FF5F05"/>
      </a:accent2>
      <a:accent3>
        <a:srgbClr val="16858F"/>
      </a:accent3>
      <a:accent4>
        <a:srgbClr val="5F3F96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VMH UIUC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2026-05-03T20:08:14.3470000Z</dcterms:created>
  <dcterms:modified xsi:type="dcterms:W3CDTF">2026-05-03T20:08:14.3470000Z</dcterms:modified>
</coreProperties>
</file>